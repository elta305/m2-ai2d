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5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05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58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091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60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30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97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30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20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419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0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15F2F-63E6-49FE-B40D-8F25E2178BC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4F966-D803-45C1-99B5-CBC5E24284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06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athieu.muratet@lip6.f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rsels.lip6.f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rsels.lip6.fr/" TargetMode="External"/><Relationship Id="rId2" Type="http://schemas.openxmlformats.org/officeDocument/2006/relationships/hyperlink" Target="https://github.com/LearningLocker/learninglocker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py.lip6.fr/xapi/vocabulary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traces dans SPY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mathieu.muratet@lip6.fr</a:t>
            </a:r>
            <a:endParaRPr lang="fr-FR" dirty="0"/>
          </a:p>
        </p:txBody>
      </p:sp>
      <p:pic>
        <p:nvPicPr>
          <p:cNvPr id="4" name="Picture 2" descr="Résultat de recherche d'images pour &quot;Logo LIP6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631" y="5349875"/>
            <a:ext cx="1368425" cy="127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ichier:Logo of Sorbonne University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5400405"/>
            <a:ext cx="3018549" cy="122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28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 ce qu’un LRS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LRS = Learning Record Store</a:t>
            </a:r>
          </a:p>
          <a:p>
            <a:pPr lvl="1"/>
            <a:r>
              <a:rPr lang="fr-FR" dirty="0"/>
              <a:t>un entrepôt de données conçu pour stocker les déclarations d'activités d'apprentissage respectant la norme </a:t>
            </a:r>
            <a:r>
              <a:rPr lang="fr-FR" dirty="0" err="1"/>
              <a:t>xAPI</a:t>
            </a:r>
            <a:r>
              <a:rPr lang="fr-FR" dirty="0"/>
              <a:t> (Tin Can).</a:t>
            </a:r>
          </a:p>
          <a:p>
            <a:endParaRPr lang="fr-FR" dirty="0"/>
          </a:p>
          <a:p>
            <a:r>
              <a:rPr lang="fr-FR" dirty="0" err="1"/>
              <a:t>xAPI</a:t>
            </a:r>
            <a:r>
              <a:rPr lang="fr-FR" dirty="0"/>
              <a:t> = </a:t>
            </a:r>
            <a:r>
              <a:rPr lang="fr-FR" dirty="0" err="1"/>
              <a:t>Experience</a:t>
            </a:r>
            <a:r>
              <a:rPr lang="fr-FR" dirty="0"/>
              <a:t> API</a:t>
            </a:r>
          </a:p>
          <a:p>
            <a:pPr lvl="1"/>
            <a:r>
              <a:rPr lang="fr-FR" dirty="0"/>
              <a:t>une spécification technique qui vise à faciliter la documentation et la communication des expériences d'apprentissage. Elle spécifie une structure pour décrire les expériences d'apprentissage et définit comment ces descriptions peuvent être échangées électroniquement.</a:t>
            </a:r>
          </a:p>
        </p:txBody>
      </p:sp>
    </p:spTree>
    <p:extLst>
      <p:ext uri="{BB962C8B-B14F-4D97-AF65-F5344CB8AC3E}">
        <p14:creationId xmlns:p14="http://schemas.microsoft.com/office/powerpoint/2010/main" val="126831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7970144" y="3535419"/>
            <a:ext cx="2543508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Données étudiants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01132" y="3077545"/>
            <a:ext cx="2121679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Cours Moodle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Différents types de LRS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33175" y="558800"/>
            <a:ext cx="1228562" cy="3035300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LRS orientés « Data </a:t>
            </a:r>
            <a:r>
              <a:rPr lang="fr-FR" dirty="0" err="1"/>
              <a:t>storage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Enregistrement de données</a:t>
            </a:r>
          </a:p>
          <a:p>
            <a:pPr lvl="1"/>
            <a:r>
              <a:rPr lang="fr-FR" dirty="0"/>
              <a:t>Échange avec d’autres systèmes</a:t>
            </a:r>
          </a:p>
          <a:p>
            <a:pPr lvl="1"/>
            <a:endParaRPr lang="fr-FR" dirty="0"/>
          </a:p>
          <a:p>
            <a:r>
              <a:rPr lang="fr-FR" dirty="0"/>
              <a:t>LRS orientés « Learning </a:t>
            </a:r>
            <a:r>
              <a:rPr lang="fr-FR" dirty="0" err="1"/>
              <a:t>analytics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Fonctionnalités de base (enregistrement, échange)</a:t>
            </a:r>
          </a:p>
          <a:p>
            <a:pPr lvl="1"/>
            <a:r>
              <a:rPr lang="fr-FR" dirty="0"/>
              <a:t>Visualisation des données (</a:t>
            </a:r>
            <a:r>
              <a:rPr lang="fr-FR" dirty="0" err="1"/>
              <a:t>dashboards</a:t>
            </a:r>
            <a:r>
              <a:rPr lang="fr-FR" dirty="0"/>
              <a:t>,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analytics</a:t>
            </a:r>
            <a:r>
              <a:rPr lang="fr-FR" dirty="0"/>
              <a:t>, …)</a:t>
            </a:r>
          </a:p>
          <a:p>
            <a:pPr lvl="1"/>
            <a:endParaRPr lang="fr-FR" dirty="0"/>
          </a:p>
          <a:p>
            <a:r>
              <a:rPr lang="fr-FR" dirty="0"/>
              <a:t>LRS « embarqués » (dans un LMS)</a:t>
            </a:r>
          </a:p>
        </p:txBody>
      </p:sp>
      <p:sp>
        <p:nvSpPr>
          <p:cNvPr id="4" name="Ellipse 3"/>
          <p:cNvSpPr/>
          <p:nvPr/>
        </p:nvSpPr>
        <p:spPr>
          <a:xfrm>
            <a:off x="7874000" y="970688"/>
            <a:ext cx="1440000" cy="1440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dirty="0">
                <a:solidFill>
                  <a:schemeClr val="tx1"/>
                </a:solidFill>
              </a:rPr>
              <a:t>LRS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4825" y="439013"/>
            <a:ext cx="1854200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Jeux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2375" y="1058602"/>
            <a:ext cx="1917700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Simulations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922375" y="1716949"/>
            <a:ext cx="1917700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App 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4825" y="2356708"/>
            <a:ext cx="1917700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0" name="Connecteur droit avec flèche 9"/>
          <p:cNvCxnSpPr>
            <a:stCxn id="4" idx="7"/>
            <a:endCxn id="5" idx="1"/>
          </p:cNvCxnSpPr>
          <p:nvPr/>
        </p:nvCxnSpPr>
        <p:spPr>
          <a:xfrm flipV="1">
            <a:off x="9103117" y="673963"/>
            <a:ext cx="651708" cy="50760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endCxn id="6" idx="1"/>
          </p:cNvCxnSpPr>
          <p:nvPr/>
        </p:nvCxnSpPr>
        <p:spPr>
          <a:xfrm flipV="1">
            <a:off x="9314000" y="1293552"/>
            <a:ext cx="608375" cy="175491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7" idx="1"/>
          </p:cNvCxnSpPr>
          <p:nvPr/>
        </p:nvCxnSpPr>
        <p:spPr>
          <a:xfrm>
            <a:off x="9314000" y="1860547"/>
            <a:ext cx="608375" cy="9135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4" idx="5"/>
            <a:endCxn id="8" idx="1"/>
          </p:cNvCxnSpPr>
          <p:nvPr/>
        </p:nvCxnSpPr>
        <p:spPr>
          <a:xfrm>
            <a:off x="9103117" y="2199805"/>
            <a:ext cx="651708" cy="391853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54537" y="850901"/>
            <a:ext cx="1666375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72101" y="1455738"/>
            <a:ext cx="2619374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Learning </a:t>
            </a:r>
            <a:r>
              <a:rPr lang="fr-FR" sz="2400" dirty="0" err="1">
                <a:solidFill>
                  <a:schemeClr val="tx1"/>
                </a:solidFill>
              </a:rPr>
              <a:t>Analytics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37712" y="2075725"/>
            <a:ext cx="1666375" cy="4699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7555173" y="2893904"/>
            <a:ext cx="98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LMS</a:t>
            </a:r>
          </a:p>
        </p:txBody>
      </p:sp>
    </p:spTree>
    <p:extLst>
      <p:ext uri="{BB962C8B-B14F-4D97-AF65-F5344CB8AC3E}">
        <p14:creationId xmlns:p14="http://schemas.microsoft.com/office/powerpoint/2010/main" val="13765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3" grpId="0" animBg="1"/>
      <p:bldP spid="31" grpId="0" animBg="1"/>
      <p:bldP spid="28" grpId="0" animBg="1"/>
      <p:bldP spid="29" grpId="0" animBg="1"/>
      <p:bldP spid="30" grpId="0" animBg="1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d’un LRS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LRS est constitué </a:t>
            </a:r>
            <a:r>
              <a:rPr lang="fr-FR" dirty="0" err="1"/>
              <a:t>d’ORGANISATIONs</a:t>
            </a:r>
            <a:r>
              <a:rPr lang="fr-FR" dirty="0"/>
              <a:t> (séparées entre elles)</a:t>
            </a:r>
          </a:p>
          <a:p>
            <a:pPr lvl="1"/>
            <a:r>
              <a:rPr lang="fr-FR" dirty="0"/>
              <a:t>Exemple : organisation SPY dans </a:t>
            </a:r>
            <a:r>
              <a:rPr lang="fr-FR" dirty="0">
                <a:hlinkClick r:id="rId2"/>
              </a:rPr>
              <a:t>https://lrsels.lip6.fr/</a:t>
            </a:r>
            <a:endParaRPr lang="fr-FR" dirty="0"/>
          </a:p>
          <a:p>
            <a:r>
              <a:rPr lang="fr-FR" dirty="0"/>
              <a:t>Une organisation est composée de :</a:t>
            </a:r>
          </a:p>
          <a:p>
            <a:pPr lvl="1"/>
            <a:r>
              <a:rPr lang="fr-FR" dirty="0"/>
              <a:t>STORE(s) : espace de stockage</a:t>
            </a:r>
          </a:p>
          <a:p>
            <a:pPr lvl="2"/>
            <a:r>
              <a:rPr lang="fr-FR" dirty="0"/>
              <a:t>Exemple pour l’organisation SPY : </a:t>
            </a:r>
            <a:r>
              <a:rPr lang="fr-FR" dirty="0" err="1"/>
              <a:t>SPY_Dev</a:t>
            </a:r>
            <a:r>
              <a:rPr lang="fr-FR" dirty="0"/>
              <a:t> et </a:t>
            </a:r>
            <a:r>
              <a:rPr lang="fr-FR" dirty="0" err="1"/>
              <a:t>SPY_Prod</a:t>
            </a:r>
            <a:endParaRPr lang="fr-FR" dirty="0"/>
          </a:p>
          <a:p>
            <a:pPr lvl="1"/>
            <a:r>
              <a:rPr lang="fr-FR" dirty="0"/>
              <a:t>CLIENT(s) : au sens « système » qui pourra aller poser des traces dans le store ou en récupérer</a:t>
            </a:r>
          </a:p>
          <a:p>
            <a:pPr lvl="2"/>
            <a:r>
              <a:rPr lang="fr-FR" dirty="0"/>
              <a:t>Exemple pour l’organisation SPY : </a:t>
            </a:r>
            <a:r>
              <a:rPr lang="fr-FR" dirty="0" err="1"/>
              <a:t>Client_SPY_Dev</a:t>
            </a:r>
            <a:r>
              <a:rPr lang="fr-FR" dirty="0"/>
              <a:t> et </a:t>
            </a:r>
            <a:r>
              <a:rPr lang="fr-FR" dirty="0" err="1"/>
              <a:t>Client_SPY_Prod</a:t>
            </a:r>
            <a:endParaRPr lang="fr-FR" dirty="0"/>
          </a:p>
          <a:p>
            <a:pPr lvl="1"/>
            <a:r>
              <a:rPr lang="fr-FR" dirty="0"/>
              <a:t>USER(s) : compte d’accès à l’interface web (</a:t>
            </a:r>
            <a:r>
              <a:rPr lang="fr-FR" i="1" dirty="0"/>
              <a:t>admin</a:t>
            </a:r>
            <a:r>
              <a:rPr lang="fr-FR" dirty="0"/>
              <a:t> ou </a:t>
            </a:r>
            <a:r>
              <a:rPr lang="fr-FR" i="1" dirty="0"/>
              <a:t>observer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Exemple pour l’organisation SPY : un compte pour chaque groupe d’étudiants</a:t>
            </a:r>
          </a:p>
        </p:txBody>
      </p:sp>
    </p:spTree>
    <p:extLst>
      <p:ext uri="{BB962C8B-B14F-4D97-AF65-F5344CB8AC3E}">
        <p14:creationId xmlns:p14="http://schemas.microsoft.com/office/powerpoint/2010/main" val="264243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LearningLocker</a:t>
            </a:r>
            <a:r>
              <a:rPr lang="fr-FR" dirty="0"/>
              <a:t> un LRS open source de type Learning </a:t>
            </a:r>
            <a:r>
              <a:rPr lang="fr-FR" dirty="0" err="1"/>
              <a:t>analytics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https://github.com/LearningLocker/learninglocker</a:t>
            </a:r>
            <a:endParaRPr lang="fr-FR" dirty="0"/>
          </a:p>
          <a:p>
            <a:r>
              <a:rPr lang="fr-FR" dirty="0">
                <a:hlinkClick r:id="rId3"/>
              </a:rPr>
              <a:t>https://lrsels.lip6.fr/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823" y="2892983"/>
            <a:ext cx="4130935" cy="2256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501692"/>
            <a:ext cx="2628975" cy="2958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06" y="3634481"/>
            <a:ext cx="5273318" cy="2858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 rot="20506757">
            <a:off x="2346679" y="3615495"/>
            <a:ext cx="6908800" cy="1362905"/>
          </a:xfrm>
          <a:prstGeom prst="rect">
            <a:avLst/>
          </a:prstGeom>
          <a:solidFill>
            <a:schemeClr val="bg1"/>
          </a:solidFill>
          <a:effectLst>
            <a:outerShdw blurRad="304800" dist="190500" dir="2640000" algn="tl" rotWithShape="0">
              <a:prstClr val="black">
                <a:alpha val="51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800" dirty="0" err="1">
                <a:solidFill>
                  <a:srgbClr val="FF0000"/>
                </a:solidFill>
              </a:rPr>
              <a:t>Statements</a:t>
            </a:r>
            <a:endParaRPr lang="fr-FR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03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Retour sur </a:t>
            </a:r>
            <a:r>
              <a:rPr lang="fr-FR" dirty="0" err="1"/>
              <a:t>xAPI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Objectifs de </a:t>
            </a:r>
            <a:r>
              <a:rPr lang="fr-FR" dirty="0" err="1"/>
              <a:t>xAPI</a:t>
            </a:r>
            <a:endParaRPr lang="fr-FR" dirty="0"/>
          </a:p>
          <a:p>
            <a:pPr lvl="1"/>
            <a:r>
              <a:rPr lang="fr-FR" dirty="0"/>
              <a:t>Faciliter la compréhension et la comparaison des expériences d'apprentissage et de leurs résultats enregistrés dans une grande variété de contextes, de plateformes et de technologies.</a:t>
            </a:r>
          </a:p>
          <a:p>
            <a:pPr lvl="1"/>
            <a:r>
              <a:rPr lang="fr-FR" dirty="0"/>
              <a:t>Optimiser l'interopérabilité des services qui créent, rassemblent, stockent et traitent les informations sur les expériences d'apprentissage.</a:t>
            </a:r>
          </a:p>
          <a:p>
            <a:pPr lvl="1"/>
            <a:r>
              <a:rPr lang="fr-FR" dirty="0"/>
              <a:t>Fournir un guide à ceux qui souhaitent créer des applications conformes à cette spécification et la mettre en œuvre.</a:t>
            </a:r>
          </a:p>
          <a:p>
            <a:pPr lvl="1"/>
            <a:r>
              <a:rPr lang="fr-FR" dirty="0"/>
              <a:t>Fournir des critères permettant de tester la conformité à cette spécification.</a:t>
            </a:r>
          </a:p>
        </p:txBody>
      </p:sp>
    </p:spTree>
    <p:extLst>
      <p:ext uri="{BB962C8B-B14F-4D97-AF65-F5344CB8AC3E}">
        <p14:creationId xmlns:p14="http://schemas.microsoft.com/office/powerpoint/2010/main" val="3208601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 ce qu’un </a:t>
            </a:r>
            <a:r>
              <a:rPr lang="fr-FR" dirty="0" err="1"/>
              <a:t>statement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</a:t>
            </a:r>
            <a:r>
              <a:rPr lang="fr-FR" dirty="0" err="1"/>
              <a:t>statement</a:t>
            </a:r>
            <a:r>
              <a:rPr lang="fr-FR" dirty="0"/>
              <a:t> est un enregistrement au format </a:t>
            </a:r>
            <a:r>
              <a:rPr lang="fr-FR" dirty="0" err="1"/>
              <a:t>xAPI</a:t>
            </a:r>
            <a:r>
              <a:rPr lang="fr-FR" dirty="0"/>
              <a:t> d’un évènement ou de toute sorte d’expérience généré par un système.</a:t>
            </a:r>
          </a:p>
          <a:p>
            <a:r>
              <a:rPr lang="fr-FR" dirty="0"/>
              <a:t>Un </a:t>
            </a:r>
            <a:r>
              <a:rPr lang="fr-FR" dirty="0" err="1"/>
              <a:t>statement</a:t>
            </a:r>
            <a:r>
              <a:rPr lang="fr-FR" dirty="0"/>
              <a:t> est décrit sous la forme d’une structure en JSON</a:t>
            </a:r>
          </a:p>
          <a:p>
            <a:r>
              <a:rPr lang="fr-FR" dirty="0"/>
              <a:t>Un </a:t>
            </a:r>
            <a:r>
              <a:rPr lang="fr-FR" dirty="0" err="1"/>
              <a:t>statement</a:t>
            </a:r>
            <a:r>
              <a:rPr lang="fr-FR" dirty="0"/>
              <a:t> est composé</a:t>
            </a:r>
          </a:p>
          <a:p>
            <a:pPr lvl="1"/>
            <a:r>
              <a:rPr lang="fr-FR" dirty="0"/>
              <a:t>D’un acteur : qui a généré ce </a:t>
            </a:r>
            <a:r>
              <a:rPr lang="fr-FR" dirty="0" err="1"/>
              <a:t>statement</a:t>
            </a:r>
            <a:endParaRPr lang="fr-FR" dirty="0"/>
          </a:p>
          <a:p>
            <a:pPr lvl="1"/>
            <a:r>
              <a:rPr lang="fr-FR" dirty="0"/>
              <a:t>D’un verbe : qu’a fait l’acteur</a:t>
            </a:r>
          </a:p>
          <a:p>
            <a:pPr lvl="1"/>
            <a:r>
              <a:rPr lang="fr-FR" dirty="0"/>
              <a:t>D’un objet (Activity) : sur quoi portait l’action</a:t>
            </a:r>
          </a:p>
          <a:p>
            <a:pPr lvl="2"/>
            <a:r>
              <a:rPr lang="fr-FR" dirty="0"/>
              <a:t>D’extensions (optionnelle) : qui précisent le contexte</a:t>
            </a:r>
          </a:p>
          <a:p>
            <a:pPr lvl="1"/>
            <a:r>
              <a:rPr lang="fr-FR" dirty="0"/>
              <a:t>D’un horodatage : quand a été fait cette action</a:t>
            </a:r>
          </a:p>
          <a:p>
            <a:pPr lvl="1"/>
            <a:r>
              <a:rPr lang="fr-FR" dirty="0"/>
              <a:t>D’un résultat (parfois) : le résultat de l’activité</a:t>
            </a:r>
          </a:p>
        </p:txBody>
      </p:sp>
    </p:spTree>
    <p:extLst>
      <p:ext uri="{BB962C8B-B14F-4D97-AF65-F5344CB8AC3E}">
        <p14:creationId xmlns:p14="http://schemas.microsoft.com/office/powerpoint/2010/main" val="400493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</a:t>
            </a:r>
            <a:r>
              <a:rPr lang="fr-FR" dirty="0" err="1"/>
              <a:t>statement</a:t>
            </a:r>
            <a:r>
              <a:rPr lang="fr-FR" dirty="0"/>
              <a:t> généré par SPY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19" y="2629244"/>
            <a:ext cx="3633827" cy="246560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064" y="1303808"/>
            <a:ext cx="5130800" cy="53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8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 utilisé par SPY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https://spy.lip6.fr/xapi/vocabulary.html</a:t>
            </a:r>
            <a:endParaRPr lang="fr-FR" dirty="0"/>
          </a:p>
          <a:p>
            <a:r>
              <a:rPr lang="fr-FR" dirty="0"/>
              <a:t>Verbes</a:t>
            </a:r>
          </a:p>
          <a:p>
            <a:pPr lvl="1"/>
            <a:r>
              <a:rPr lang="fr-FR" dirty="0" err="1"/>
              <a:t>Bugged</a:t>
            </a:r>
            <a:endParaRPr lang="fr-FR" dirty="0"/>
          </a:p>
          <a:p>
            <a:pPr lvl="1"/>
            <a:r>
              <a:rPr lang="fr-FR" dirty="0" err="1"/>
              <a:t>Cleaned</a:t>
            </a:r>
            <a:endParaRPr lang="fr-FR" dirty="0"/>
          </a:p>
          <a:p>
            <a:pPr lvl="1"/>
            <a:r>
              <a:rPr lang="fr-FR" dirty="0" err="1"/>
              <a:t>Closed</a:t>
            </a:r>
            <a:endParaRPr lang="fr-FR" dirty="0"/>
          </a:p>
          <a:p>
            <a:pPr lvl="1"/>
            <a:r>
              <a:rPr lang="fr-FR" dirty="0" err="1"/>
              <a:t>Created</a:t>
            </a:r>
            <a:endParaRPr lang="fr-FR" dirty="0"/>
          </a:p>
          <a:p>
            <a:pPr lvl="1"/>
            <a:r>
              <a:rPr lang="fr-FR" dirty="0" err="1"/>
              <a:t>Completed</a:t>
            </a:r>
            <a:endParaRPr lang="fr-FR" dirty="0"/>
          </a:p>
          <a:p>
            <a:pPr lvl="1"/>
            <a:r>
              <a:rPr lang="fr-FR" dirty="0" err="1"/>
              <a:t>Deleted</a:t>
            </a:r>
            <a:endParaRPr lang="fr-FR" dirty="0"/>
          </a:p>
          <a:p>
            <a:pPr lvl="1"/>
            <a:r>
              <a:rPr lang="fr-FR" dirty="0" err="1"/>
              <a:t>Executed</a:t>
            </a:r>
            <a:endParaRPr lang="fr-FR" dirty="0"/>
          </a:p>
          <a:p>
            <a:pPr lvl="1"/>
            <a:r>
              <a:rPr lang="fr-FR" dirty="0" err="1"/>
              <a:t>Exited</a:t>
            </a:r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009900" y="1825625"/>
            <a:ext cx="246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dirty="0" err="1"/>
              <a:t>Filtered</a:t>
            </a:r>
            <a:endParaRPr lang="fr-FR" dirty="0"/>
          </a:p>
          <a:p>
            <a:pPr lvl="1"/>
            <a:r>
              <a:rPr lang="fr-FR" dirty="0" err="1"/>
              <a:t>Inserted</a:t>
            </a:r>
            <a:endParaRPr lang="fr-FR" dirty="0"/>
          </a:p>
          <a:p>
            <a:pPr lvl="1"/>
            <a:r>
              <a:rPr lang="fr-FR" dirty="0" err="1"/>
              <a:t>Interacted</a:t>
            </a:r>
            <a:endParaRPr lang="fr-FR" dirty="0"/>
          </a:p>
          <a:p>
            <a:pPr lvl="1"/>
            <a:r>
              <a:rPr lang="fr-FR" dirty="0" err="1"/>
              <a:t>Launched</a:t>
            </a:r>
            <a:endParaRPr lang="fr-FR" dirty="0"/>
          </a:p>
          <a:p>
            <a:pPr lvl="1"/>
            <a:r>
              <a:rPr lang="fr-FR" dirty="0" err="1"/>
              <a:t>Modified</a:t>
            </a:r>
            <a:endParaRPr lang="fr-FR" dirty="0"/>
          </a:p>
          <a:p>
            <a:pPr lvl="1"/>
            <a:r>
              <a:rPr lang="fr-FR" dirty="0" err="1"/>
              <a:t>Opened</a:t>
            </a:r>
            <a:endParaRPr lang="fr-FR" dirty="0"/>
          </a:p>
          <a:p>
            <a:pPr lvl="1"/>
            <a:r>
              <a:rPr lang="fr-FR" dirty="0" err="1"/>
              <a:t>Paused</a:t>
            </a:r>
            <a:endParaRPr lang="fr-FR" dirty="0"/>
          </a:p>
          <a:p>
            <a:pPr lvl="1"/>
            <a:r>
              <a:rPr lang="fr-FR" dirty="0" err="1"/>
              <a:t>Renamed</a:t>
            </a:r>
            <a:endParaRPr lang="fr-FR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5181600" y="1825625"/>
            <a:ext cx="246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dirty="0" err="1"/>
              <a:t>Resumed</a:t>
            </a:r>
            <a:endParaRPr lang="fr-FR" dirty="0"/>
          </a:p>
          <a:p>
            <a:pPr lvl="1"/>
            <a:r>
              <a:rPr lang="fr-FR" dirty="0" err="1"/>
              <a:t>Stepped</a:t>
            </a:r>
            <a:endParaRPr lang="fr-FR" dirty="0"/>
          </a:p>
          <a:p>
            <a:pPr lvl="1"/>
            <a:r>
              <a:rPr lang="fr-FR" dirty="0" err="1"/>
              <a:t>Stopped</a:t>
            </a:r>
            <a:endParaRPr lang="fr-FR" dirty="0"/>
          </a:p>
          <a:p>
            <a:pPr lvl="1"/>
            <a:r>
              <a:rPr lang="fr-FR" dirty="0" err="1"/>
              <a:t>Tried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94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 utilisé par SPY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fr-FR" dirty="0" err="1"/>
              <a:t>Activities</a:t>
            </a:r>
            <a:endParaRPr lang="fr-FR" dirty="0"/>
          </a:p>
          <a:p>
            <a:pPr lvl="1"/>
            <a:r>
              <a:rPr lang="fr-FR" dirty="0"/>
              <a:t>Block</a:t>
            </a:r>
          </a:p>
          <a:p>
            <a:pPr lvl="1"/>
            <a:r>
              <a:rPr lang="fr-FR" dirty="0"/>
              <a:t>Briefing</a:t>
            </a:r>
          </a:p>
          <a:p>
            <a:pPr lvl="1"/>
            <a:r>
              <a:rPr lang="fr-FR" dirty="0"/>
              <a:t>Camera</a:t>
            </a:r>
          </a:p>
          <a:p>
            <a:pPr lvl="1"/>
            <a:r>
              <a:rPr lang="fr-FR" dirty="0" err="1"/>
              <a:t>Competencies</a:t>
            </a:r>
            <a:endParaRPr lang="fr-FR" dirty="0"/>
          </a:p>
          <a:p>
            <a:pPr lvl="1"/>
            <a:r>
              <a:rPr lang="fr-FR" dirty="0" err="1"/>
              <a:t>Level</a:t>
            </a:r>
            <a:endParaRPr lang="fr-FR" dirty="0"/>
          </a:p>
          <a:p>
            <a:pPr lvl="1"/>
            <a:r>
              <a:rPr lang="fr-FR" dirty="0" err="1"/>
              <a:t>LevelEditor</a:t>
            </a:r>
            <a:endParaRPr lang="fr-FR" dirty="0"/>
          </a:p>
          <a:p>
            <a:pPr lvl="1"/>
            <a:r>
              <a:rPr lang="fr-FR" dirty="0"/>
              <a:t>Program</a:t>
            </a:r>
          </a:p>
          <a:p>
            <a:pPr lvl="1"/>
            <a:r>
              <a:rPr lang="fr-FR" dirty="0"/>
              <a:t>Script</a:t>
            </a:r>
          </a:p>
          <a:p>
            <a:pPr lvl="1"/>
            <a:r>
              <a:rPr lang="fr-FR" dirty="0" err="1"/>
              <a:t>ScenarioEditor</a:t>
            </a:r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4305300" y="1825625"/>
            <a:ext cx="246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Extensions</a:t>
            </a:r>
          </a:p>
          <a:p>
            <a:pPr lvl="1"/>
            <a:r>
              <a:rPr lang="fr-FR" dirty="0"/>
              <a:t>Value</a:t>
            </a:r>
          </a:p>
          <a:p>
            <a:pPr lvl="1"/>
            <a:r>
              <a:rPr lang="fr-FR" dirty="0" err="1"/>
              <a:t>OldValue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Context</a:t>
            </a:r>
            <a:endParaRPr lang="fr-FR" dirty="0"/>
          </a:p>
          <a:p>
            <a:pPr lvl="1"/>
            <a:r>
              <a:rPr lang="fr-FR" dirty="0"/>
              <a:t>Score</a:t>
            </a:r>
          </a:p>
          <a:p>
            <a:pPr lvl="1"/>
            <a:r>
              <a:rPr lang="fr-FR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916658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sont générés les </a:t>
            </a:r>
            <a:r>
              <a:rPr lang="fr-FR" dirty="0" err="1"/>
              <a:t>statements</a:t>
            </a:r>
            <a:r>
              <a:rPr lang="fr-FR" dirty="0"/>
              <a:t> dans SPY ? =&gt; Rappel architecture ECS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F780-7B63-42A3-9074-13EF946B833E}" type="slidenum">
              <a:rPr lang="fr-FR" smtClean="0"/>
              <a:t>11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264077" y="2194744"/>
            <a:ext cx="1728192" cy="20882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        e   </a:t>
            </a:r>
            <a:r>
              <a:rPr lang="fr-FR" dirty="0" err="1"/>
              <a:t>e</a:t>
            </a:r>
            <a:r>
              <a:rPr lang="fr-FR" dirty="0"/>
              <a:t>   </a:t>
            </a:r>
            <a:r>
              <a:rPr lang="fr-FR" dirty="0" err="1"/>
              <a:t>e</a:t>
            </a:r>
            <a:r>
              <a:rPr lang="fr-FR" dirty="0"/>
              <a:t>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e      </a:t>
            </a:r>
            <a:r>
              <a:rPr lang="fr-FR" dirty="0" err="1"/>
              <a:t>e</a:t>
            </a:r>
            <a:r>
              <a:rPr lang="fr-FR" dirty="0"/>
              <a:t>    </a:t>
            </a:r>
            <a:r>
              <a:rPr lang="fr-FR" dirty="0" err="1"/>
              <a:t>e</a:t>
            </a:r>
            <a:r>
              <a:rPr lang="fr-FR" dirty="0"/>
              <a:t>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e </a:t>
            </a:r>
            <a:r>
              <a:rPr lang="fr-FR" dirty="0" err="1"/>
              <a:t>e</a:t>
            </a:r>
            <a:r>
              <a:rPr lang="fr-FR" dirty="0"/>
              <a:t>         </a:t>
            </a:r>
            <a:r>
              <a:rPr lang="fr-FR" dirty="0" err="1"/>
              <a:t>e</a:t>
            </a:r>
            <a:r>
              <a:rPr lang="fr-FR" dirty="0"/>
              <a:t>    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e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          e   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e            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e        </a:t>
            </a:r>
            <a:r>
              <a:rPr lang="fr-FR" dirty="0" err="1"/>
              <a:t>e</a:t>
            </a:r>
            <a:r>
              <a:rPr lang="fr-FR" dirty="0"/>
              <a:t>    </a:t>
            </a:r>
            <a:r>
              <a:rPr lang="fr-FR" dirty="0" err="1"/>
              <a:t>e</a:t>
            </a:r>
            <a:r>
              <a:rPr lang="fr-FR" dirty="0"/>
              <a:t> </a:t>
            </a:r>
            <a:r>
              <a:rPr lang="fr-FR" dirty="0" err="1"/>
              <a:t>e</a:t>
            </a:r>
            <a:r>
              <a:rPr lang="fr-FR" dirty="0"/>
              <a:t>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4077" y="1690688"/>
            <a:ext cx="1728192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Le monde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12349" y="2883596"/>
            <a:ext cx="1296144" cy="1615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Composant</a:t>
            </a:r>
          </a:p>
          <a:p>
            <a:endParaRPr lang="fr-FR" dirty="0"/>
          </a:p>
          <a:p>
            <a:r>
              <a:rPr lang="fr-FR" dirty="0"/>
              <a:t>Composant</a:t>
            </a:r>
          </a:p>
          <a:p>
            <a:endParaRPr lang="fr-FR" dirty="0"/>
          </a:p>
          <a:p>
            <a:r>
              <a:rPr lang="fr-FR" dirty="0"/>
              <a:t>Composant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2349" y="2379539"/>
            <a:ext cx="1296144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Entité</a:t>
            </a:r>
          </a:p>
        </p:txBody>
      </p:sp>
      <p:cxnSp>
        <p:nvCxnSpPr>
          <p:cNvPr id="10" name="Connecteur droit avec flèche 9"/>
          <p:cNvCxnSpPr/>
          <p:nvPr/>
        </p:nvCxnSpPr>
        <p:spPr>
          <a:xfrm>
            <a:off x="3848253" y="2698800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00581" y="3400240"/>
            <a:ext cx="1296144" cy="5916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00581" y="2896183"/>
            <a:ext cx="1296144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Composant</a:t>
            </a: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5936485" y="3136032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97627" y="4846301"/>
            <a:ext cx="1368152" cy="1368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 e         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e</a:t>
            </a:r>
          </a:p>
          <a:p>
            <a:r>
              <a:rPr lang="fr-FR" dirty="0"/>
              <a:t>   e        </a:t>
            </a:r>
            <a:r>
              <a:rPr lang="fr-FR" dirty="0" err="1"/>
              <a:t>e</a:t>
            </a:r>
            <a:r>
              <a:rPr lang="fr-FR" dirty="0"/>
              <a:t>    </a:t>
            </a:r>
            <a:r>
              <a:rPr lang="fr-FR" dirty="0" err="1"/>
              <a:t>e</a:t>
            </a:r>
            <a:r>
              <a:rPr lang="fr-FR" dirty="0"/>
              <a:t> </a:t>
            </a:r>
            <a:r>
              <a:rPr lang="fr-FR" dirty="0" err="1"/>
              <a:t>e</a:t>
            </a:r>
            <a:r>
              <a:rPr lang="fr-FR" dirty="0"/>
              <a:t>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60421" y="5291088"/>
            <a:ext cx="1368152" cy="136815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             e</a:t>
            </a:r>
          </a:p>
          <a:p>
            <a:r>
              <a:rPr lang="fr-FR" dirty="0"/>
              <a:t>         e        </a:t>
            </a:r>
            <a:r>
              <a:rPr lang="fr-FR" dirty="0" err="1"/>
              <a:t>e</a:t>
            </a:r>
            <a:endParaRPr lang="fr-FR" dirty="0"/>
          </a:p>
          <a:p>
            <a:r>
              <a:rPr lang="fr-FR" dirty="0"/>
              <a:t>           e </a:t>
            </a:r>
            <a:r>
              <a:rPr lang="fr-FR" dirty="0" err="1"/>
              <a:t>e</a:t>
            </a:r>
            <a:r>
              <a:rPr lang="fr-FR" dirty="0"/>
              <a:t>     </a:t>
            </a:r>
          </a:p>
          <a:p>
            <a:r>
              <a:rPr lang="fr-FR" dirty="0"/>
              <a:t>   e        </a:t>
            </a:r>
            <a:r>
              <a:rPr lang="fr-FR" dirty="0" err="1"/>
              <a:t>e</a:t>
            </a:r>
            <a:r>
              <a:rPr lang="fr-FR" dirty="0"/>
              <a:t>     </a:t>
            </a:r>
            <a:r>
              <a:rPr lang="fr-FR" dirty="0" err="1"/>
              <a:t>e</a:t>
            </a:r>
            <a:endParaRPr lang="fr-FR" dirty="0"/>
          </a:p>
        </p:txBody>
      </p:sp>
      <p:cxnSp>
        <p:nvCxnSpPr>
          <p:cNvPr id="17" name="Connecteur en angle 16"/>
          <p:cNvCxnSpPr/>
          <p:nvPr/>
        </p:nvCxnSpPr>
        <p:spPr>
          <a:xfrm>
            <a:off x="2408093" y="4354984"/>
            <a:ext cx="1836204" cy="900100"/>
          </a:xfrm>
          <a:prstGeom prst="bentConnector3">
            <a:avLst>
              <a:gd name="adj1" fmla="val 721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819217" y="5435105"/>
            <a:ext cx="2425081" cy="13607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dirty="0"/>
              <a:t>Familles :</a:t>
            </a:r>
          </a:p>
          <a:p>
            <a:pPr algn="r"/>
            <a:r>
              <a:rPr lang="fr-FR" dirty="0"/>
              <a:t>Sous ensemble d’entités du monde respectant diverses contraintes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798" y="3420265"/>
            <a:ext cx="1537543" cy="153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8913159" y="3909542"/>
            <a:ext cx="1200820" cy="54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Système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027" y="5255085"/>
            <a:ext cx="1537543" cy="153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8144388" y="5744362"/>
            <a:ext cx="1200820" cy="54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Système</a:t>
            </a:r>
          </a:p>
        </p:txBody>
      </p:sp>
      <p:cxnSp>
        <p:nvCxnSpPr>
          <p:cNvPr id="33" name="Connecteur droit avec flèche 32"/>
          <p:cNvCxnSpPr/>
          <p:nvPr/>
        </p:nvCxnSpPr>
        <p:spPr>
          <a:xfrm flipH="1">
            <a:off x="6800581" y="6023855"/>
            <a:ext cx="108012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 flipH="1">
            <a:off x="5864478" y="4354985"/>
            <a:ext cx="2819970" cy="60282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H="1">
            <a:off x="6800582" y="4354984"/>
            <a:ext cx="1883866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28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sont générés les </a:t>
            </a:r>
            <a:r>
              <a:rPr lang="fr-FR" dirty="0" err="1"/>
              <a:t>statements</a:t>
            </a:r>
            <a:r>
              <a:rPr lang="fr-FR" dirty="0"/>
              <a:t> dans SPY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composant : </a:t>
            </a:r>
            <a:r>
              <a:rPr lang="fr-FR" dirty="0" err="1"/>
              <a:t>ActionPerformedForLRS</a:t>
            </a:r>
            <a:endParaRPr lang="fr-FR" dirty="0"/>
          </a:p>
          <a:p>
            <a:pPr lvl="1"/>
            <a:r>
              <a:rPr lang="fr-FR" dirty="0"/>
              <a:t>Pour savoir tout ce qui est tracé dans le jeu, il suffit de chercher tous les </a:t>
            </a:r>
            <a:r>
              <a:rPr lang="fr-FR" dirty="0" err="1"/>
              <a:t>ActionPerformedForLRS</a:t>
            </a:r>
            <a:endParaRPr lang="fr-FR" dirty="0"/>
          </a:p>
          <a:p>
            <a:r>
              <a:rPr lang="fr-FR" dirty="0"/>
              <a:t>Un système : </a:t>
            </a:r>
            <a:r>
              <a:rPr lang="fr-FR" dirty="0" err="1"/>
              <a:t>sendStatements</a:t>
            </a:r>
            <a:endParaRPr lang="fr-FR" dirty="0"/>
          </a:p>
          <a:p>
            <a:pPr lvl="1"/>
            <a:r>
              <a:rPr lang="fr-FR" dirty="0"/>
              <a:t>Il se charge de récupérer tous les GO contenant un </a:t>
            </a:r>
            <a:r>
              <a:rPr lang="fr-FR" dirty="0" err="1"/>
              <a:t>ActionPerformedForLRS</a:t>
            </a:r>
            <a:r>
              <a:rPr lang="fr-FR" dirty="0"/>
              <a:t>, dépile chaque composant et génère les </a:t>
            </a:r>
            <a:r>
              <a:rPr lang="fr-FR" dirty="0" err="1"/>
              <a:t>statements</a:t>
            </a:r>
            <a:r>
              <a:rPr lang="fr-FR" dirty="0"/>
              <a:t> à l’aide de la bibliothèque GBLXAPI</a:t>
            </a:r>
          </a:p>
          <a:p>
            <a:pPr lvl="1"/>
            <a:r>
              <a:rPr lang="fr-FR" dirty="0"/>
              <a:t>Dans l’éditeur de </a:t>
            </a:r>
            <a:r>
              <a:rPr lang="fr-FR" dirty="0" err="1"/>
              <a:t>Unity</a:t>
            </a:r>
            <a:r>
              <a:rPr lang="fr-FR" dirty="0"/>
              <a:t> =&gt; envoi vers </a:t>
            </a:r>
            <a:r>
              <a:rPr lang="fr-FR" i="1" dirty="0" err="1"/>
              <a:t>Client_SPY_Dev</a:t>
            </a:r>
            <a:endParaRPr lang="fr-FR" i="1" dirty="0"/>
          </a:p>
          <a:p>
            <a:pPr lvl="1"/>
            <a:r>
              <a:rPr lang="fr-FR" dirty="0"/>
              <a:t>Dans le </a:t>
            </a:r>
            <a:r>
              <a:rPr lang="fr-FR" dirty="0" err="1"/>
              <a:t>build</a:t>
            </a:r>
            <a:r>
              <a:rPr lang="fr-FR" dirty="0"/>
              <a:t> (</a:t>
            </a:r>
            <a:r>
              <a:rPr lang="fr-FR" dirty="0" err="1"/>
              <a:t>WebGL</a:t>
            </a:r>
            <a:r>
              <a:rPr lang="fr-FR" dirty="0"/>
              <a:t>) =&gt; envoi vers </a:t>
            </a:r>
            <a:r>
              <a:rPr lang="fr-FR" i="1" dirty="0" err="1"/>
              <a:t>Client_SPY_Prod</a:t>
            </a:r>
            <a:endParaRPr lang="fr-FR" i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40481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697</Words>
  <Application>Microsoft Office PowerPoint</Application>
  <PresentationFormat>Grand écran</PresentationFormat>
  <Paragraphs>144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Les traces dans SPY</vt:lpstr>
      <vt:lpstr>Qu’est ce qu’un LRS ?</vt:lpstr>
      <vt:lpstr>Différents types de LRS</vt:lpstr>
      <vt:lpstr>Architecture d’un LRS</vt:lpstr>
      <vt:lpstr>LearningLocker un LRS open source de type Learning analytics</vt:lpstr>
      <vt:lpstr>Retour sur xAPI</vt:lpstr>
      <vt:lpstr>Qu’est ce qu’un statement ?</vt:lpstr>
      <vt:lpstr>Exemple de statement généré par SPY</vt:lpstr>
      <vt:lpstr>Vocabulaire utilisé par SPY</vt:lpstr>
      <vt:lpstr>Vocabulaire utilisé par SPY</vt:lpstr>
      <vt:lpstr>Comment sont générés les statements dans SPY ? =&gt; Rappel architecture ECS</vt:lpstr>
      <vt:lpstr>Comment sont générés les statements dans SPY ?</vt:lpstr>
    </vt:vector>
  </TitlesOfParts>
  <Company>INS HEA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Mathieu MURATET</dc:creator>
  <cp:lastModifiedBy>Mathieu MURATET</cp:lastModifiedBy>
  <cp:revision>17</cp:revision>
  <dcterms:created xsi:type="dcterms:W3CDTF">2023-10-13T12:08:38Z</dcterms:created>
  <dcterms:modified xsi:type="dcterms:W3CDTF">2025-12-12T13:26:05Z</dcterms:modified>
</cp:coreProperties>
</file>